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3D9BC9C-DDD6-449B-A3B5-09540E7C51AE}" type="datetimeFigureOut">
              <a:rPr lang="en-US" smtClean="0"/>
              <a:pPr/>
              <a:t>8/16/2020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E8D84068-27B3-463E-9BE7-C7F886FDC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3.wav"/><Relationship Id="rId7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audio" Target="../media/audio1.wav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4.wav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audio" Target="../media/audio5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6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7.wav"/><Relationship Id="rId6" Type="http://schemas.openxmlformats.org/officeDocument/2006/relationships/image" Target="../media/image5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8.wav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9.wav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0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2.wav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3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4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5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Recorded Sound">
            <a:hlinkClick r:id="" action="ppaction://media"/>
          </p:cNvPr>
          <p:cNvPicPr>
            <a:picLocks noRot="1" noChangeAspect="1"/>
          </p:cNvPicPr>
          <p:nvPr>
            <a:wavAudioFile r:embed="rId1" name="Recorded Sound"/>
          </p:nvPr>
        </p:nvPicPr>
        <p:blipFill>
          <a:blip r:embed="rId6" cstate="print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</p:cNvPr>
          <p:cNvPicPr>
            <a:picLocks noRot="1" noChangeAspect="1"/>
          </p:cNvPicPr>
          <p:nvPr>
            <a:wavAudioFile r:embed="rId2" name="Recorded Sound"/>
          </p:nvPr>
        </p:nvPicPr>
        <p:blipFill>
          <a:blip r:embed="rId7" cstate="print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  <p:pic>
        <p:nvPicPr>
          <p:cNvPr id="8" name="~PP3925.WAV">
            <a:hlinkClick r:id="" action="ppaction://media"/>
          </p:cNvPr>
          <p:cNvPicPr>
            <a:picLocks noRot="1" noChangeAspect="1"/>
          </p:cNvPicPr>
          <p:nvPr>
            <a:wavAudioFile r:embed="rId3" name="~PP3925.WAV"/>
          </p:nvPr>
        </p:nvPicPr>
        <p:blipFill>
          <a:blip r:embed="rId8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3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>
                <p:cTn id="1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 isNarration="1">
              <p:cMediaNode showWhenStopped="0">
                <p:cTn id="1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4495800"/>
            <a:ext cx="5486400" cy="1859760"/>
          </a:xfrm>
        </p:spPr>
        <p:txBody>
          <a:bodyPr/>
          <a:lstStyle/>
          <a:p>
            <a:r>
              <a:rPr lang="en-US" dirty="0" err="1" smtClean="0">
                <a:solidFill>
                  <a:srgbClr val="00B0F0"/>
                </a:solidFill>
                <a:latin typeface="Arial Black" pitchFamily="34" charset="0"/>
              </a:rPr>
              <a:t>Sayem</a:t>
            </a:r>
            <a:r>
              <a:rPr lang="en-US" dirty="0" smtClean="0">
                <a:solidFill>
                  <a:srgbClr val="00B0F0"/>
                </a:solidFill>
                <a:latin typeface="Arial Black" pitchFamily="34" charset="0"/>
              </a:rPr>
              <a:t> al </a:t>
            </a:r>
            <a:r>
              <a:rPr lang="en-US" dirty="0" err="1" smtClean="0">
                <a:solidFill>
                  <a:srgbClr val="00B0F0"/>
                </a:solidFill>
                <a:latin typeface="Arial Black" pitchFamily="34" charset="0"/>
              </a:rPr>
              <a:t>mahadi</a:t>
            </a:r>
            <a:endParaRPr lang="en-US" dirty="0" smtClean="0">
              <a:solidFill>
                <a:srgbClr val="00B0F0"/>
              </a:solidFill>
              <a:latin typeface="Arial Black" pitchFamily="34" charset="0"/>
            </a:endParaRPr>
          </a:p>
          <a:p>
            <a:r>
              <a:rPr lang="en-US" dirty="0" smtClean="0">
                <a:solidFill>
                  <a:srgbClr val="00B0F0"/>
                </a:solidFill>
                <a:latin typeface="Arial Black" pitchFamily="34" charset="0"/>
              </a:rPr>
              <a:t>191-15-12949</a:t>
            </a:r>
            <a:endParaRPr lang="en-US" dirty="0">
              <a:solidFill>
                <a:srgbClr val="00B0F0"/>
              </a:solidFill>
              <a:latin typeface="Arial Black" pitchFamily="34" charset="0"/>
            </a:endParaRPr>
          </a:p>
        </p:txBody>
      </p:sp>
      <p:pic>
        <p:nvPicPr>
          <p:cNvPr id="6" name="Picture 5" descr="69168486_163102688148577_2753358866082168832_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0" y="838200"/>
            <a:ext cx="3657600" cy="3505200"/>
          </a:xfrm>
          <a:prstGeom prst="rect">
            <a:avLst/>
          </a:prstGeom>
        </p:spPr>
      </p:pic>
      <p:pic>
        <p:nvPicPr>
          <p:cNvPr id="8" name="~PP1496.WAV">
            <a:hlinkClick r:id="" action="ppaction://media"/>
          </p:cNvPr>
          <p:cNvPicPr>
            <a:picLocks noRot="1" noChangeAspect="1"/>
          </p:cNvPicPr>
          <p:nvPr>
            <a:wavAudioFile r:embed="rId1" name="~PP1496.WAV"/>
          </p:nvPr>
        </p:nvPicPr>
        <p:blipFill>
          <a:blip r:embed="rId4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967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362200"/>
            <a:ext cx="7772400" cy="2057400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Comparative study between Bubble sort and Insertion sort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5" name="~PP804.WAV">
            <a:hlinkClick r:id="" action="ppaction://media"/>
          </p:cNvPr>
          <p:cNvPicPr>
            <a:picLocks noRot="1" noChangeAspect="1"/>
          </p:cNvPicPr>
          <p:nvPr>
            <a:wavAudioFile r:embed="rId1" name="~PP804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73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04800" y="1351672"/>
            <a:ext cx="8839200" cy="5277728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sz="4000" dirty="0" smtClean="0"/>
              <a:t>Bubble sort is an algorithm that compares the adjacent elements and swaps their positions if they are not in the intended order. The order can be ascending or descending.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438400" y="512064"/>
            <a:ext cx="4800600" cy="777240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Bubble Sort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8" name="~PP1623.WAV">
            <a:hlinkClick r:id="" action="ppaction://media"/>
          </p:cNvPr>
          <p:cNvPicPr>
            <a:picLocks noRot="1" noChangeAspect="1"/>
          </p:cNvPicPr>
          <p:nvPr>
            <a:wavAudioFile r:embed="rId1" name="~PP1623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70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We take an unsorted array for our example. Bubble sort takes Ο(n</a:t>
            </a:r>
            <a:r>
              <a:rPr lang="en-US" baseline="30000" dirty="0" smtClean="0"/>
              <a:t>2</a:t>
            </a:r>
            <a:r>
              <a:rPr lang="en-US" dirty="0" smtClean="0"/>
              <a:t>) time so we're keeping it short and precise.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Bubble sort starts with very first two elements, comparing them to check which one is greater.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this case, value 33 is greater than 14, so it is already in sorted locations. Next, we compare 33 with 27.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62200" y="512064"/>
            <a:ext cx="6501150" cy="777240"/>
          </a:xfrm>
        </p:spPr>
        <p:txBody>
          <a:bodyPr/>
          <a:lstStyle/>
          <a:p>
            <a:r>
              <a:rPr lang="en-US" dirty="0" smtClean="0"/>
              <a:t>How that works</a:t>
            </a:r>
            <a:endParaRPr lang="en-US" dirty="0"/>
          </a:p>
        </p:txBody>
      </p:sp>
      <p:pic>
        <p:nvPicPr>
          <p:cNvPr id="5" name="Picture 4" descr="bubble_sort_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2438400"/>
            <a:ext cx="5105400" cy="533400"/>
          </a:xfrm>
          <a:prstGeom prst="rect">
            <a:avLst/>
          </a:prstGeom>
        </p:spPr>
      </p:pic>
      <p:pic>
        <p:nvPicPr>
          <p:cNvPr id="6" name="Picture 5" descr="bubble_sort_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6400" y="4038600"/>
            <a:ext cx="5076825" cy="762000"/>
          </a:xfrm>
          <a:prstGeom prst="rect">
            <a:avLst/>
          </a:prstGeom>
        </p:spPr>
      </p:pic>
      <p:pic>
        <p:nvPicPr>
          <p:cNvPr id="7" name="Picture 6" descr="bubble_sort_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2600" y="5867400"/>
            <a:ext cx="5029200" cy="762000"/>
          </a:xfrm>
          <a:prstGeom prst="rect">
            <a:avLst/>
          </a:prstGeom>
        </p:spPr>
      </p:pic>
      <p:pic>
        <p:nvPicPr>
          <p:cNvPr id="9" name="~PP1790.WAV">
            <a:hlinkClick r:id="" action="ppaction://media"/>
          </p:cNvPr>
          <p:cNvPicPr>
            <a:picLocks noRot="1" noChangeAspect="1"/>
          </p:cNvPicPr>
          <p:nvPr>
            <a:wavAudioFile r:embed="rId1" name="~PP1790.WAV"/>
          </p:nvPr>
        </p:nvPicPr>
        <p:blipFill>
          <a:blip r:embed="rId6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659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/>
          <a:lstStyle/>
          <a:p>
            <a:r>
              <a:rPr lang="en-US" dirty="0" smtClean="0"/>
              <a:t>We find that 27 is smaller than 33 and these two values must be swapped.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new array should look like this</a:t>
            </a:r>
          </a:p>
          <a:p>
            <a:r>
              <a:rPr lang="en-US" dirty="0" smtClean="0"/>
              <a:t> </a:t>
            </a:r>
          </a:p>
          <a:p>
            <a:endParaRPr lang="en-US" dirty="0" smtClean="0"/>
          </a:p>
          <a:p>
            <a:r>
              <a:rPr lang="en-US" dirty="0" smtClean="0"/>
              <a:t>Next we compare 33 and 35. We find that both are in already sorted positions.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Then we move to the next two values, 35 and 10.</a:t>
            </a:r>
          </a:p>
          <a:p>
            <a:endParaRPr lang="en-US" dirty="0" smtClean="0"/>
          </a:p>
          <a:p>
            <a:r>
              <a:rPr lang="en-US" dirty="0" smtClean="0"/>
              <a:t>We know then that 10 is smaller 35. Hence they are not sorted.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0" y="512064"/>
            <a:ext cx="6577350" cy="777240"/>
          </a:xfrm>
        </p:spPr>
        <p:txBody>
          <a:bodyPr/>
          <a:lstStyle/>
          <a:p>
            <a:r>
              <a:rPr lang="en-US" dirty="0" smtClean="0"/>
              <a:t>How that works</a:t>
            </a:r>
            <a:endParaRPr lang="en-US" dirty="0"/>
          </a:p>
        </p:txBody>
      </p:sp>
      <p:pic>
        <p:nvPicPr>
          <p:cNvPr id="4" name="Picture 3" descr="bubble_sort_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1752600"/>
            <a:ext cx="5334000" cy="838200"/>
          </a:xfrm>
          <a:prstGeom prst="rect">
            <a:avLst/>
          </a:prstGeom>
        </p:spPr>
      </p:pic>
      <p:pic>
        <p:nvPicPr>
          <p:cNvPr id="5" name="Picture 4" descr="bubble_sort_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6400" y="2895600"/>
            <a:ext cx="5257799" cy="723900"/>
          </a:xfrm>
          <a:prstGeom prst="rect">
            <a:avLst/>
          </a:prstGeom>
        </p:spPr>
      </p:pic>
      <p:pic>
        <p:nvPicPr>
          <p:cNvPr id="6" name="Picture 5" descr="bubble_sort_5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2600" y="4191000"/>
            <a:ext cx="5181600" cy="685800"/>
          </a:xfrm>
          <a:prstGeom prst="rect">
            <a:avLst/>
          </a:prstGeom>
        </p:spPr>
      </p:pic>
      <p:pic>
        <p:nvPicPr>
          <p:cNvPr id="7" name="Picture 6" descr="bubble_sort_6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752600" y="5257800"/>
            <a:ext cx="5257800" cy="533400"/>
          </a:xfrm>
          <a:prstGeom prst="rect">
            <a:avLst/>
          </a:prstGeom>
        </p:spPr>
      </p:pic>
      <p:pic>
        <p:nvPicPr>
          <p:cNvPr id="8" name="Picture 7" descr="bubble_sort_7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28800" y="6096000"/>
            <a:ext cx="5105400" cy="533400"/>
          </a:xfrm>
          <a:prstGeom prst="rect">
            <a:avLst/>
          </a:prstGeom>
        </p:spPr>
      </p:pic>
      <p:pic>
        <p:nvPicPr>
          <p:cNvPr id="11" name="~PP3054.WAV">
            <a:hlinkClick r:id="" action="ppaction://media"/>
          </p:cNvPr>
          <p:cNvPicPr>
            <a:picLocks noRot="1" noChangeAspect="1"/>
          </p:cNvPicPr>
          <p:nvPr>
            <a:wavAudioFile r:embed="rId1" name="~PP3054.WAV"/>
          </p:nvPr>
        </p:nvPicPr>
        <p:blipFill>
          <a:blip r:embed="rId8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375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 swap these values. We find that we have reached the end of the array. After one iteration, the array should look like this −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be precise, we are now showing how an array should look like after each iteration. After the second iteration, it should look like this −</a:t>
            </a:r>
          </a:p>
          <a:p>
            <a:endParaRPr lang="en-US" dirty="0" smtClean="0"/>
          </a:p>
          <a:p>
            <a:r>
              <a:rPr lang="en-US" dirty="0" smtClean="0"/>
              <a:t>Notice that after each iteration, at least one value moves at the end.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And when there's no swap required, bubble sorts learns that an array is completely sorted.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Now we should look into some practical aspects of bubble sort.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512064"/>
            <a:ext cx="5815350" cy="777240"/>
          </a:xfrm>
        </p:spPr>
        <p:txBody>
          <a:bodyPr/>
          <a:lstStyle/>
          <a:p>
            <a:r>
              <a:rPr lang="en-US" dirty="0" smtClean="0"/>
              <a:t>How that works</a:t>
            </a:r>
            <a:endParaRPr lang="en-US" dirty="0"/>
          </a:p>
        </p:txBody>
      </p:sp>
      <p:pic>
        <p:nvPicPr>
          <p:cNvPr id="4" name="Picture 3" descr="bubble_sort_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2057400"/>
            <a:ext cx="5029200" cy="533400"/>
          </a:xfrm>
          <a:prstGeom prst="rect">
            <a:avLst/>
          </a:prstGeom>
        </p:spPr>
      </p:pic>
      <p:pic>
        <p:nvPicPr>
          <p:cNvPr id="6" name="Picture 5" descr="bubble_sort_9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33600" y="3276600"/>
            <a:ext cx="5105400" cy="533400"/>
          </a:xfrm>
          <a:prstGeom prst="rect">
            <a:avLst/>
          </a:prstGeom>
        </p:spPr>
      </p:pic>
      <p:pic>
        <p:nvPicPr>
          <p:cNvPr id="7" name="Picture 6" descr="bubble_sort_10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57400" y="4114800"/>
            <a:ext cx="5105400" cy="533400"/>
          </a:xfrm>
          <a:prstGeom prst="rect">
            <a:avLst/>
          </a:prstGeom>
        </p:spPr>
      </p:pic>
      <p:pic>
        <p:nvPicPr>
          <p:cNvPr id="8" name="Picture 7" descr="bubble_sort_11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05000" y="5486400"/>
            <a:ext cx="5181600" cy="533400"/>
          </a:xfrm>
          <a:prstGeom prst="rect">
            <a:avLst/>
          </a:prstGeom>
        </p:spPr>
      </p:pic>
      <p:pic>
        <p:nvPicPr>
          <p:cNvPr id="10" name="~PP2464.WAV">
            <a:hlinkClick r:id="" action="ppaction://media"/>
          </p:cNvPr>
          <p:cNvPicPr>
            <a:picLocks noRot="1" noChangeAspect="1"/>
          </p:cNvPicPr>
          <p:nvPr>
            <a:wavAudioFile r:embed="rId1" name="~PP2464.WAV"/>
          </p:nvPr>
        </p:nvPicPr>
        <p:blipFill>
          <a:blip r:embed="rId7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483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686800" cy="5715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Insertion sort is a simple sorting algorithm that works similar to the way you sort playing cards in your hands. The array is virtually split into a sorted and an unsorted part. Values from the unsorted part are picked and placed at the correct position in the sorted part.</a:t>
            </a:r>
            <a:endParaRPr lang="en-US" sz="4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19400" y="512064"/>
            <a:ext cx="6043950" cy="777240"/>
          </a:xfrm>
        </p:spPr>
        <p:txBody>
          <a:bodyPr/>
          <a:lstStyle/>
          <a:p>
            <a:r>
              <a:rPr lang="en-US" dirty="0" smtClean="0"/>
              <a:t>Insertion sort</a:t>
            </a:r>
            <a:endParaRPr lang="en-US" dirty="0"/>
          </a:p>
        </p:txBody>
      </p:sp>
      <p:pic>
        <p:nvPicPr>
          <p:cNvPr id="6" name="~PP3451.WAV">
            <a:hlinkClick r:id="" action="ppaction://media"/>
          </p:cNvPr>
          <p:cNvPicPr>
            <a:picLocks noRot="1" noChangeAspect="1"/>
          </p:cNvPicPr>
          <p:nvPr>
            <a:wavAudioFile r:embed="rId1" name="~PP3451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53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351672"/>
            <a:ext cx="8686800" cy="5506328"/>
          </a:xfrm>
        </p:spPr>
        <p:txBody>
          <a:bodyPr>
            <a:noAutofit/>
          </a:bodyPr>
          <a:lstStyle/>
          <a:p>
            <a:r>
              <a:rPr lang="en-US" sz="3200" dirty="0" smtClean="0"/>
              <a:t>To sort an array of size n in ascending order:</a:t>
            </a:r>
            <a:br>
              <a:rPr lang="en-US" sz="3200" dirty="0" smtClean="0"/>
            </a:br>
            <a:r>
              <a:rPr lang="en-US" sz="3200" dirty="0" smtClean="0"/>
              <a:t>1: Iterate from </a:t>
            </a:r>
            <a:r>
              <a:rPr lang="en-US" sz="3200" dirty="0" err="1" smtClean="0"/>
              <a:t>arr</a:t>
            </a:r>
            <a:r>
              <a:rPr lang="en-US" sz="3200" dirty="0" smtClean="0"/>
              <a:t>[1] to </a:t>
            </a:r>
            <a:r>
              <a:rPr lang="en-US" sz="3200" dirty="0" err="1" smtClean="0"/>
              <a:t>arr</a:t>
            </a:r>
            <a:r>
              <a:rPr lang="en-US" sz="3200" dirty="0" smtClean="0"/>
              <a:t>[n] over the array.</a:t>
            </a:r>
            <a:br>
              <a:rPr lang="en-US" sz="3200" dirty="0" smtClean="0"/>
            </a:br>
            <a:r>
              <a:rPr lang="en-US" sz="3200" dirty="0" smtClean="0"/>
              <a:t>2: Compare the current element (key) to its predecessor.</a:t>
            </a:r>
            <a:br>
              <a:rPr lang="en-US" sz="3200" dirty="0" smtClean="0"/>
            </a:br>
            <a:r>
              <a:rPr lang="en-US" sz="3200" dirty="0" smtClean="0"/>
              <a:t>3: If the key element is smaller than its predecessor, compare it to the elements before. Move the greater elements one position up to make space for the swapped element.</a:t>
            </a:r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47800" y="512064"/>
            <a:ext cx="7415550" cy="777240"/>
          </a:xfrm>
        </p:spPr>
        <p:txBody>
          <a:bodyPr/>
          <a:lstStyle/>
          <a:p>
            <a:r>
              <a:rPr lang="en-US" dirty="0" smtClean="0"/>
              <a:t>How insertion sort works</a:t>
            </a:r>
            <a:endParaRPr lang="en-US" dirty="0"/>
          </a:p>
        </p:txBody>
      </p:sp>
      <p:pic>
        <p:nvPicPr>
          <p:cNvPr id="6" name="~PP899.WAV">
            <a:hlinkClick r:id="" action="ppaction://media"/>
          </p:cNvPr>
          <p:cNvPicPr>
            <a:picLocks noRot="1" noChangeAspect="1"/>
          </p:cNvPicPr>
          <p:nvPr>
            <a:wavAudioFile r:embed="rId1" name="~PP899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41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19400" y="512064"/>
            <a:ext cx="6043950" cy="777240"/>
          </a:xfrm>
        </p:spPr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4" name="Picture 3" descr="insertionsort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371601"/>
            <a:ext cx="8763000" cy="5486400"/>
          </a:xfrm>
          <a:prstGeom prst="rect">
            <a:avLst/>
          </a:prstGeom>
        </p:spPr>
      </p:pic>
      <p:pic>
        <p:nvPicPr>
          <p:cNvPr id="7" name="~PP3089.WAV">
            <a:hlinkClick r:id="" action="ppaction://media"/>
          </p:cNvPr>
          <p:cNvPicPr>
            <a:picLocks noRot="1" noChangeAspect="1"/>
          </p:cNvPicPr>
          <p:nvPr>
            <a:wavAudioFile r:embed="rId1" name="~PP3089.WAV"/>
          </p:nvPr>
        </p:nvPicPr>
        <p:blipFill>
          <a:blip r:embed="rId4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65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351672"/>
            <a:ext cx="8763000" cy="5506328"/>
          </a:xfrm>
        </p:spPr>
        <p:txBody>
          <a:bodyPr/>
          <a:lstStyle/>
          <a:p>
            <a:r>
              <a:rPr lang="en-US" dirty="0" smtClean="0"/>
              <a:t>Insertion sort time complexity</a:t>
            </a:r>
          </a:p>
          <a:p>
            <a:r>
              <a:rPr lang="en-US" dirty="0" smtClean="0"/>
              <a:t>Worst complexity-n^2</a:t>
            </a:r>
          </a:p>
          <a:p>
            <a:r>
              <a:rPr lang="en-US" dirty="0" smtClean="0"/>
              <a:t>Average complexity-n^2</a:t>
            </a:r>
          </a:p>
          <a:p>
            <a:r>
              <a:rPr lang="en-US" dirty="0" smtClean="0"/>
              <a:t>Best complexity-n</a:t>
            </a:r>
          </a:p>
          <a:p>
            <a:r>
              <a:rPr lang="en-US" dirty="0" smtClean="0"/>
              <a:t>Bubble sort time complexity</a:t>
            </a:r>
          </a:p>
          <a:p>
            <a:r>
              <a:rPr lang="en-US" dirty="0" smtClean="0"/>
              <a:t>Worst complexity-n^2</a:t>
            </a:r>
          </a:p>
          <a:p>
            <a:r>
              <a:rPr lang="en-US" dirty="0" smtClean="0"/>
              <a:t>Average complexity-n^2</a:t>
            </a:r>
          </a:p>
          <a:p>
            <a:r>
              <a:rPr lang="en-US" dirty="0" smtClean="0"/>
              <a:t>Best complexity-n</a:t>
            </a:r>
          </a:p>
          <a:p>
            <a:endParaRPr lang="en-US" dirty="0" smtClean="0"/>
          </a:p>
          <a:p>
            <a:r>
              <a:rPr lang="en-US" dirty="0" smtClean="0"/>
              <a:t>Even other  O(n^2) sorting algorithms such as insertion </a:t>
            </a:r>
            <a:r>
              <a:rPr lang="en-US" dirty="0" err="1" smtClean="0"/>
              <a:t>sort,generally</a:t>
            </a:r>
            <a:r>
              <a:rPr lang="en-US" dirty="0" smtClean="0"/>
              <a:t> run faster than bubble sort and are no more </a:t>
            </a:r>
            <a:r>
              <a:rPr lang="en-US" dirty="0" err="1" smtClean="0"/>
              <a:t>complex.Therefore</a:t>
            </a:r>
            <a:r>
              <a:rPr lang="en-US" dirty="0" smtClean="0"/>
              <a:t>, bubble sort is not a practical algorithm.</a:t>
            </a:r>
          </a:p>
          <a:p>
            <a:r>
              <a:rPr lang="en-US" dirty="0" smtClean="0"/>
              <a:t>The  only significant advantage that  bubble sort has over most other </a:t>
            </a:r>
            <a:r>
              <a:rPr lang="en-US" dirty="0" err="1" smtClean="0"/>
              <a:t>algorithms,ever</a:t>
            </a:r>
            <a:r>
              <a:rPr lang="en-US" dirty="0" smtClean="0"/>
              <a:t> quick sort but not insertion </a:t>
            </a:r>
            <a:r>
              <a:rPr lang="en-US" dirty="0" err="1" smtClean="0"/>
              <a:t>sort,is</a:t>
            </a:r>
            <a:r>
              <a:rPr lang="en-US" dirty="0" smtClean="0"/>
              <a:t> that the ability to detect  that 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0" y="512064"/>
            <a:ext cx="6577350" cy="777240"/>
          </a:xfrm>
        </p:spPr>
        <p:txBody>
          <a:bodyPr/>
          <a:lstStyle/>
          <a:p>
            <a:r>
              <a:rPr lang="en-US" dirty="0" smtClean="0"/>
              <a:t>Time complexity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6" name="~PP312.WAV">
            <a:hlinkClick r:id="" action="ppaction://media"/>
          </p:cNvPr>
          <p:cNvPicPr>
            <a:picLocks noRot="1" noChangeAspect="1"/>
          </p:cNvPicPr>
          <p:nvPr>
            <a:wavAudioFile r:embed="rId1" name="~PP312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461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763000" cy="3124200"/>
          </a:xfrm>
        </p:spPr>
        <p:txBody>
          <a:bodyPr/>
          <a:lstStyle/>
          <a:p>
            <a:r>
              <a:rPr lang="en-US" dirty="0" smtClean="0"/>
              <a:t>The list is sorted efficiently is built into the </a:t>
            </a:r>
            <a:r>
              <a:rPr lang="en-US" dirty="0" err="1" smtClean="0"/>
              <a:t>algorithm.Insertion</a:t>
            </a:r>
            <a:r>
              <a:rPr lang="en-US" dirty="0" smtClean="0"/>
              <a:t> sort performs better on a list that is substantially sorted.</a:t>
            </a:r>
          </a:p>
          <a:p>
            <a:r>
              <a:rPr lang="en-US" dirty="0" smtClean="0"/>
              <a:t>Bubble sort should be avoided in the case of large </a:t>
            </a:r>
            <a:r>
              <a:rPr lang="en-US" dirty="0" err="1" smtClean="0"/>
              <a:t>collections.It</a:t>
            </a:r>
            <a:r>
              <a:rPr lang="en-US" dirty="0" smtClean="0"/>
              <a:t> will not be efficient in the case of a reverse ordered collection.</a:t>
            </a:r>
            <a:endParaRPr lang="en-US" dirty="0"/>
          </a:p>
        </p:txBody>
      </p:sp>
      <p:pic>
        <p:nvPicPr>
          <p:cNvPr id="5" name="~PP611.WAV">
            <a:hlinkClick r:id="" action="ppaction://media"/>
          </p:cNvPr>
          <p:cNvPicPr>
            <a:picLocks noRot="1" noChangeAspect="1"/>
          </p:cNvPicPr>
          <p:nvPr>
            <a:wavAudioFile r:embed="rId1" name="~PP611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46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0600" y="2590800"/>
            <a:ext cx="6705600" cy="2590800"/>
          </a:xfrm>
        </p:spPr>
        <p:txBody>
          <a:bodyPr/>
          <a:lstStyle/>
          <a:p>
            <a:r>
              <a:rPr lang="en-US" sz="8800" dirty="0" smtClean="0"/>
              <a:t>Thank you</a:t>
            </a:r>
            <a:endParaRPr lang="en-US" sz="8800" dirty="0"/>
          </a:p>
        </p:txBody>
      </p:sp>
      <p:pic>
        <p:nvPicPr>
          <p:cNvPr id="5" name="~PP3033.WAV">
            <a:hlinkClick r:id="" action="ppaction://media"/>
          </p:cNvPr>
          <p:cNvPicPr>
            <a:picLocks noRot="1" noChangeAspect="1"/>
          </p:cNvPicPr>
          <p:nvPr>
            <a:wavAudioFile r:embed="rId1" name="~PP3033.WAV"/>
          </p:nvPr>
        </p:nvPicPr>
        <p:blipFill>
          <a:blip r:embed="rId3" cstate="print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19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199</TotalTime>
  <Words>370</Words>
  <Application>Microsoft Office PowerPoint</Application>
  <PresentationFormat>On-screen Show (4:3)</PresentationFormat>
  <Paragraphs>62</Paragraphs>
  <Slides>13</Slides>
  <Notes>0</Notes>
  <HiddenSlides>0</HiddenSlides>
  <MMClips>15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Metro</vt:lpstr>
      <vt:lpstr>Slide 1</vt:lpstr>
      <vt:lpstr>Slide 2</vt:lpstr>
      <vt:lpstr>Comparative study between Bubble sort and Insertion sort</vt:lpstr>
      <vt:lpstr>Bubble Sort</vt:lpstr>
      <vt:lpstr>How that works</vt:lpstr>
      <vt:lpstr>How that works</vt:lpstr>
      <vt:lpstr>How that works</vt:lpstr>
      <vt:lpstr>Insertion sort</vt:lpstr>
      <vt:lpstr>How insertion sort works</vt:lpstr>
      <vt:lpstr>Example </vt:lpstr>
      <vt:lpstr>Time complexity </vt:lpstr>
      <vt:lpstr>Slide 12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21</cp:revision>
  <dcterms:created xsi:type="dcterms:W3CDTF">2020-08-15T17:13:29Z</dcterms:created>
  <dcterms:modified xsi:type="dcterms:W3CDTF">2020-08-15T20:47:39Z</dcterms:modified>
</cp:coreProperties>
</file>